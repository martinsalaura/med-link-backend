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sldIdLst>
    <p:sldId id="547" r:id="rId5"/>
    <p:sldId id="548" r:id="rId6"/>
    <p:sldId id="290" r:id="rId7"/>
    <p:sldId id="549" r:id="rId8"/>
    <p:sldId id="320" r:id="rId9"/>
    <p:sldId id="550" r:id="rId10"/>
    <p:sldId id="551" r:id="rId11"/>
    <p:sldId id="552" r:id="rId12"/>
    <p:sldId id="554" r:id="rId13"/>
    <p:sldId id="555" r:id="rId14"/>
    <p:sldId id="556" r:id="rId15"/>
    <p:sldId id="557" r:id="rId16"/>
    <p:sldId id="558" r:id="rId17"/>
    <p:sldId id="559" r:id="rId18"/>
    <p:sldId id="560" r:id="rId19"/>
    <p:sldId id="561" r:id="rId20"/>
    <p:sldId id="562" r:id="rId21"/>
    <p:sldId id="563" r:id="rId22"/>
    <p:sldId id="564" r:id="rId23"/>
    <p:sldId id="565" r:id="rId24"/>
    <p:sldId id="566" r:id="rId25"/>
    <p:sldId id="567" r:id="rId26"/>
    <p:sldId id="568" r:id="rId27"/>
    <p:sldId id="569" r:id="rId28"/>
    <p:sldId id="570" r:id="rId29"/>
    <p:sldId id="571" r:id="rId30"/>
    <p:sldId id="572" r:id="rId31"/>
    <p:sldId id="573" r:id="rId32"/>
    <p:sldId id="574" r:id="rId33"/>
    <p:sldId id="575" r:id="rId34"/>
    <p:sldId id="576" r:id="rId35"/>
    <p:sldId id="577" r:id="rId36"/>
    <p:sldId id="578" r:id="rId37"/>
    <p:sldId id="545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716C1-5024-8CCE-3203-86B75C2C8617}" v="3" dt="2026-03-04T18:26:21.527"/>
    <p1510:client id="{15EE4E26-2F7C-A8A7-F640-351793DF4648}" v="51" dt="2026-03-04T14:37:16.632"/>
    <p1510:client id="{1A042CCA-B3F5-4F3A-A55B-20F5A0164B7D}" v="24" dt="2026-03-04T14:05:53.570"/>
    <p1510:client id="{474E71F2-6943-508A-29C8-0B58041B59EA}" v="24" dt="2026-03-04T13:40:41.656"/>
    <p1510:client id="{610FBFFC-C927-4559-84E4-21F8025EFCC9}" v="4" dt="2026-03-04T18:41:12.929"/>
    <p1510:client id="{6B13FC13-F49B-3BCF-DC56-120CE7AD128B}" v="3" dt="2026-03-04T14:27:44.521"/>
    <p1510:client id="{6B418F69-DA30-9EA3-9484-1B1B7022BB9A}" v="26" dt="2026-03-04T18:46:59.600"/>
    <p1510:client id="{A6C34AF3-2CB0-9917-C57B-32A817E4D2F0}" v="15" dt="2026-03-04T19:28:10.596"/>
    <p1510:client id="{B4BCC3D1-ADA6-AE73-AB10-F1FD9D46F8AE}" v="1" dt="2026-03-04T18:45:27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1016" autoAdjust="0"/>
  </p:normalViewPr>
  <p:slideViewPr>
    <p:cSldViewPr snapToGrid="0">
      <p:cViewPr varScale="1">
        <p:scale>
          <a:sx n="42" d="100"/>
          <a:sy n="42" d="100"/>
        </p:scale>
        <p:origin x="7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07/04/2026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570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2981-4639-AB08-EA01-EDEB2635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9A7809-4DDA-A0C1-37AA-20F806D34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EF8599-FFF6-B9F8-401F-DCB2C18E1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C3246D-683D-CF18-8E9A-07ADF4FC1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581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658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4368-73FD-ADC6-96D8-E4F1E74C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37A909-65EB-CDC3-6435-B0F2FFCAE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AFA371-6FE4-211A-CC2F-DA9F11B91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FB360C-B461-7F19-8D32-0FAA9CD34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0943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97F6-367F-4C7A-89AF-BE66E493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EFDCDE-7B86-E348-90A9-14540AF74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22B2C3-175E-6EFE-4AE9-9CF235240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BF9569-10D9-7C90-A5C5-6E6604E58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229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14D0-E157-A1EF-103D-9A5D2997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4BC83D-A535-5C53-E000-95AD4B325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41337A-AA8E-043F-1C84-FCC4C85EB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9078DD-3ABE-D70A-2DBD-E07A027BE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53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0195B-FCD3-581D-BFFE-BC836E58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727AFA-C82F-0C11-B4BA-AE43B7775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66C5A63-5023-184B-3F59-CC46E8CCA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CF30C4-85CD-3218-EF97-41D7556B7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4691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9A636-A0A7-6561-AACC-1B78DDA2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D6ED09-2E3E-BEEE-6B2A-81DB80446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DD1D91-DFBF-7EA3-6655-F0F81912C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A3A2D7-3C82-D8DB-EE69-CF8D8E106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51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E0F18-BE5D-BD0D-0D8C-D49A966D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C6913A-B7C7-FAC4-B0F4-4DA972901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4A0F3EC-1C89-8F90-C825-A2E78C3FC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8836FF-1011-8EE2-1DE1-C1D16A99D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014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4BAE4-047D-BFCC-CD8E-F8039210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AB58137-6747-2A4D-3BE1-3A7861EB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970F23-8788-D0A4-D663-022AC423F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F9E6E4-3773-D5DC-F877-518803563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5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56441-6C28-D221-B1CE-EC5CB09A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F7DA01-EBB6-402E-1850-99C739F98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5F82A0-E62D-9AFA-E756-3CD832B86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5B9DE1-FFB7-760F-6D3D-FEE770CFE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346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78AF-EDBA-65CE-BDF3-18029A2F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CB1EE6-E545-548F-0460-219852CD0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701A7A-D274-11CF-E369-610455096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49D057-8273-B876-E08E-B3B9C3C3B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200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47880-9606-35A1-0E1C-263E520B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74286A-E55C-0336-02A2-BFB0C206E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8C79A2-4C9F-A51A-6B59-BA48D0F2B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F7A960-993A-9CE9-B378-D0FFD628B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446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CF50E44-6445-55E1-DA19-15DC03F162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44924" y="2492304"/>
            <a:ext cx="8467911" cy="1119157"/>
          </a:xfrm>
        </p:spPr>
        <p:txBody>
          <a:bodyPr/>
          <a:lstStyle/>
          <a:p>
            <a:r>
              <a:rPr lang="pt-BR" sz="4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Aplicativo </a:t>
            </a:r>
            <a:r>
              <a:rPr lang="pt-BR" sz="44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MedLink</a:t>
            </a:r>
            <a:endParaRPr lang="pt-BR" sz="4400" dirty="0"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  <a:p>
            <a:r>
              <a:rPr lang="pt-BR" sz="4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Farmácia Comunitária Digital</a:t>
            </a:r>
          </a:p>
          <a:p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54ACB0-5545-29CA-B6D7-EF647C1837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30103" y="6322525"/>
            <a:ext cx="4298712" cy="430544"/>
          </a:xfrm>
        </p:spPr>
        <p:txBody>
          <a:bodyPr/>
          <a:lstStyle/>
          <a:p>
            <a:r>
              <a:rPr lang="pt-BR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Integrantes: Renata | Luana | Laura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6F1A01-4CED-E71D-2DB1-9604E4F33C47}"/>
              </a:ext>
            </a:extLst>
          </p:cNvPr>
          <p:cNvSpPr txBox="1"/>
          <p:nvPr/>
        </p:nvSpPr>
        <p:spPr>
          <a:xfrm>
            <a:off x="4334653" y="3689062"/>
            <a:ext cx="46884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solidFill>
                  <a:schemeClr val="bg1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Disciplina de Projeto Integrador – Sistema Mobile</a:t>
            </a:r>
          </a:p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80B805B-C535-5DBF-DE6A-E969E682E84D}"/>
              </a:ext>
            </a:extLst>
          </p:cNvPr>
          <p:cNvCxnSpPr/>
          <p:nvPr/>
        </p:nvCxnSpPr>
        <p:spPr>
          <a:xfrm>
            <a:off x="4873327" y="2233536"/>
            <a:ext cx="32678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F8AE1A6-5A6F-983D-8A1B-4E291FEC37BD}"/>
              </a:ext>
            </a:extLst>
          </p:cNvPr>
          <p:cNvCxnSpPr/>
          <p:nvPr/>
        </p:nvCxnSpPr>
        <p:spPr>
          <a:xfrm>
            <a:off x="4873327" y="4171956"/>
            <a:ext cx="32678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75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3031124-5234-7637-4BB5-11832C5028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2535" y="3131820"/>
            <a:ext cx="6338305" cy="1666685"/>
          </a:xfrm>
        </p:spPr>
        <p:txBody>
          <a:bodyPr/>
          <a:lstStyle/>
          <a:p>
            <a:pPr algn="ctr"/>
            <a:r>
              <a:rPr lang="pt-BR" sz="6600" b="1" dirty="0">
                <a:latin typeface="Aptos Black" panose="020F0502020204030204" pitchFamily="34" charset="0"/>
                <a:ea typeface="Segoe UI Historic" panose="020B0502040204020203" pitchFamily="34" charset="0"/>
                <a:cs typeface="Aharoni" panose="02010803020104030203" pitchFamily="2" charset="-79"/>
              </a:rPr>
              <a:t>CONTEXTO DO PROBLEMA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22390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3E9B-E6AB-064F-B5A9-0F7091CC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DA9DB14A-F564-F627-B975-363CC610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62DC5631-0A42-541E-FE33-81B967A418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694CCF7-A2E6-035C-C806-3C06E1697E54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D0C162-33BD-F566-105B-F4EAE6C025DC}"/>
              </a:ext>
            </a:extLst>
          </p:cNvPr>
          <p:cNvSpPr txBox="1"/>
          <p:nvPr/>
        </p:nvSpPr>
        <p:spPr>
          <a:xfrm>
            <a:off x="292148" y="1754667"/>
            <a:ext cx="46950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CENÁRIO ATUAL NA SAÚDE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167E69-2E26-CB3B-4279-A415587CFC31}"/>
              </a:ext>
            </a:extLst>
          </p:cNvPr>
          <p:cNvSpPr txBox="1"/>
          <p:nvPr/>
        </p:nvSpPr>
        <p:spPr>
          <a:xfrm>
            <a:off x="5897879" y="1754667"/>
            <a:ext cx="5760721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500" dirty="0">
                <a:solidFill>
                  <a:schemeClr val="bg1"/>
                </a:solidFill>
                <a:latin typeface="Arial Nova Light" panose="020B0304020202020204" pitchFamily="34" charset="0"/>
              </a:rPr>
              <a:t>Alto custo de medicamentos dificulta tratamentos.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500" dirty="0">
                <a:solidFill>
                  <a:schemeClr val="bg1"/>
                </a:solidFill>
                <a:latin typeface="Arial Nova Light" panose="020B0304020202020204" pitchFamily="34" charset="0"/>
              </a:rPr>
              <a:t>Falta de disponibilidade em farmácias e no SUS.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500" dirty="0">
                <a:solidFill>
                  <a:schemeClr val="bg1"/>
                </a:solidFill>
                <a:latin typeface="Arial Nova Light" panose="020B0304020202020204" pitchFamily="34" charset="0"/>
              </a:rPr>
              <a:t>Burocracia para acesso via Estado.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500" dirty="0">
                <a:solidFill>
                  <a:schemeClr val="bg1"/>
                </a:solidFill>
                <a:latin typeface="Arial Nova Light" panose="020B0304020202020204" pitchFamily="34" charset="0"/>
              </a:rPr>
              <a:t>Desperdício de medicamentos em residências.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500" dirty="0">
                <a:solidFill>
                  <a:schemeClr val="bg1"/>
                </a:solidFill>
                <a:latin typeface="Arial Nova Light" panose="020B0304020202020204" pitchFamily="34" charset="0"/>
              </a:rPr>
              <a:t>Descarte incorreto gera impactos ambientais.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32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75B7-A950-9F3C-639F-C3E5CDE5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E8247D1-88A9-3154-E064-057510401D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02575" y="2595657"/>
            <a:ext cx="6338305" cy="1666685"/>
          </a:xfrm>
        </p:spPr>
        <p:txBody>
          <a:bodyPr/>
          <a:lstStyle/>
          <a:p>
            <a:r>
              <a:rPr lang="pt-BR" sz="6600" dirty="0"/>
              <a:t>INSIGHTS DAS ENTREVISTAS</a:t>
            </a:r>
          </a:p>
        </p:txBody>
      </p:sp>
    </p:spTree>
    <p:extLst>
      <p:ext uri="{BB962C8B-B14F-4D97-AF65-F5344CB8AC3E}">
        <p14:creationId xmlns:p14="http://schemas.microsoft.com/office/powerpoint/2010/main" val="393043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4E953-608E-2B69-B3BC-91A9B0E0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7F6F0F3-8313-1C90-D6E7-FFC2FA50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3A38144-92BB-34B9-630A-A7A7ACEF2A57}"/>
              </a:ext>
            </a:extLst>
          </p:cNvPr>
          <p:cNvSpPr txBox="1"/>
          <p:nvPr/>
        </p:nvSpPr>
        <p:spPr>
          <a:xfrm>
            <a:off x="371576" y="2264381"/>
            <a:ext cx="550659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Medicamentos podem chegar a valores muito altos.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Tratamentos interrompidos por falta de recursos.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Espera longa pelo governo.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Pessoas guardam remédios até vencerem.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Falta de informação sobre doação e descarte.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CFBB321-2963-EBB9-11C0-0B12E776FD4B}"/>
              </a:ext>
            </a:extLst>
          </p:cNvPr>
          <p:cNvSpPr txBox="1"/>
          <p:nvPr/>
        </p:nvSpPr>
        <p:spPr>
          <a:xfrm>
            <a:off x="-115445" y="640645"/>
            <a:ext cx="6480639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OUVIMOS NA PRÁTICA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C9D4D86-DA17-EBC4-22AB-C4FE04D8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45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BBA5-0999-22FB-429E-71A4C9D2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06F981C-6F06-1A68-E209-29FD2A9B6C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675" y="2595657"/>
            <a:ext cx="6338305" cy="1666685"/>
          </a:xfrm>
        </p:spPr>
        <p:txBody>
          <a:bodyPr/>
          <a:lstStyle/>
          <a:p>
            <a:pPr algn="ctr"/>
            <a:r>
              <a:rPr lang="pt-BR" sz="6600" dirty="0"/>
              <a:t>IMPACTOS NA SOCIEDADE</a:t>
            </a:r>
          </a:p>
        </p:txBody>
      </p:sp>
    </p:spTree>
    <p:extLst>
      <p:ext uri="{BB962C8B-B14F-4D97-AF65-F5344CB8AC3E}">
        <p14:creationId xmlns:p14="http://schemas.microsoft.com/office/powerpoint/2010/main" val="225220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60D62-CD05-897C-6E7D-D94A339B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093415F7-3723-F6DE-CAEC-44E5D93E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28CDDC8C-FB92-5C17-8E41-96C011CF0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C508705-B1C5-EED0-C561-4523C32B08E3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FF724C-2B8B-9689-3329-F38AC8EE3B49}"/>
              </a:ext>
            </a:extLst>
          </p:cNvPr>
          <p:cNvSpPr txBox="1"/>
          <p:nvPr/>
        </p:nvSpPr>
        <p:spPr>
          <a:xfrm>
            <a:off x="289666" y="1556417"/>
            <a:ext cx="46950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CONSEQUÊNCIAS DO PROBLEMA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4CE46E6-94F9-0008-44B9-71790038C08D}"/>
              </a:ext>
            </a:extLst>
          </p:cNvPr>
          <p:cNvSpPr txBox="1"/>
          <p:nvPr/>
        </p:nvSpPr>
        <p:spPr>
          <a:xfrm>
            <a:off x="6450269" y="1556417"/>
            <a:ext cx="429767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Agravamento de doenças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Retorno frequente aos serviços de saúde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Uso inadequado de medicamentos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Baixa qualidade de vida dos pacientes</a:t>
            </a:r>
          </a:p>
        </p:txBody>
      </p:sp>
    </p:spTree>
    <p:extLst>
      <p:ext uri="{BB962C8B-B14F-4D97-AF65-F5344CB8AC3E}">
        <p14:creationId xmlns:p14="http://schemas.microsoft.com/office/powerpoint/2010/main" val="396057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01B6-5686-D9BA-B1A5-7220140E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F3EE8B8-4F25-0171-73BA-DB651FC3F6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9655" y="2595657"/>
            <a:ext cx="6338305" cy="1666685"/>
          </a:xfrm>
        </p:spPr>
        <p:txBody>
          <a:bodyPr/>
          <a:lstStyle/>
          <a:p>
            <a:pPr algn="ctr"/>
            <a:r>
              <a:rPr lang="pt-BR" sz="6600" dirty="0"/>
              <a:t>SOLUÇÃO PROPOSTA</a:t>
            </a:r>
          </a:p>
        </p:txBody>
      </p:sp>
    </p:spTree>
    <p:extLst>
      <p:ext uri="{BB962C8B-B14F-4D97-AF65-F5344CB8AC3E}">
        <p14:creationId xmlns:p14="http://schemas.microsoft.com/office/powerpoint/2010/main" val="632535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4D80-4A70-5F3D-0F98-C950140B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4853EADC-0178-66A8-0208-810446E47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92384C0-9EB6-6DE9-F4F6-F6C5840194F6}"/>
              </a:ext>
            </a:extLst>
          </p:cNvPr>
          <p:cNvSpPr txBox="1"/>
          <p:nvPr/>
        </p:nvSpPr>
        <p:spPr>
          <a:xfrm>
            <a:off x="356979" y="1564243"/>
            <a:ext cx="6272421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dirty="0">
                <a:latin typeface="Arial Nova Light" panose="020B0304020202020204" pitchFamily="34" charset="0"/>
              </a:rPr>
              <a:t>Aplicativo mobile que funciona como uma farmácia comunitária digital, conectando:</a:t>
            </a:r>
            <a:br>
              <a:rPr lang="pt-BR" sz="2600" dirty="0">
                <a:latin typeface="Arial Nova Light" panose="020B0304020202020204" pitchFamily="34" charset="0"/>
              </a:rPr>
            </a:br>
            <a:r>
              <a:rPr lang="pt-BR" sz="2600" dirty="0">
                <a:latin typeface="Arial Nova Light" panose="020B0304020202020204" pitchFamily="34" charset="0"/>
              </a:rPr>
              <a:t>✔ Pessoas que querem doar medicamentos.</a:t>
            </a:r>
            <a:br>
              <a:rPr lang="pt-BR" sz="2600" dirty="0">
                <a:latin typeface="Arial Nova Light" panose="020B0304020202020204" pitchFamily="34" charset="0"/>
              </a:rPr>
            </a:br>
            <a:r>
              <a:rPr lang="pt-BR" sz="2600" dirty="0">
                <a:latin typeface="Arial Nova Light" panose="020B0304020202020204" pitchFamily="34" charset="0"/>
              </a:rPr>
              <a:t>✔ Pessoas que precisam de medicamentos.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r>
              <a:rPr lang="pt-BR" sz="2600" dirty="0">
                <a:latin typeface="Arial Nova Light" panose="020B0304020202020204" pitchFamily="34" charset="0"/>
              </a:rPr>
              <a:t>Diferencial: organização digital, intermediação segura, triagem por profissional da saúde e retirada em pontos físicos confiáveis.</a:t>
            </a:r>
          </a:p>
          <a:p>
            <a:pPr algn="just"/>
            <a:endParaRPr lang="pt-BR" sz="2600" dirty="0">
              <a:latin typeface="Arial Nova Light" panose="020B0304020202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5BAD339-4434-6187-C116-618F243571DD}"/>
              </a:ext>
            </a:extLst>
          </p:cNvPr>
          <p:cNvSpPr txBox="1"/>
          <p:nvPr/>
        </p:nvSpPr>
        <p:spPr>
          <a:xfrm>
            <a:off x="-115445" y="640645"/>
            <a:ext cx="6480639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CONHEÇA O MEDLINK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7F53FCDC-B3BB-4A8D-3FE5-C534CA8B25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C93D-363B-B9B3-0D6D-58EB5A5D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1FF0FEF-F109-AD70-2FC1-F077B28F96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9655" y="2595657"/>
            <a:ext cx="6338305" cy="1666685"/>
          </a:xfrm>
        </p:spPr>
        <p:txBody>
          <a:bodyPr/>
          <a:lstStyle/>
          <a:p>
            <a:pPr algn="ctr"/>
            <a:r>
              <a:rPr lang="pt-BR" sz="6600" dirty="0"/>
              <a:t>OBJETIVO DO PROJETO</a:t>
            </a:r>
          </a:p>
        </p:txBody>
      </p:sp>
    </p:spTree>
    <p:extLst>
      <p:ext uri="{BB962C8B-B14F-4D97-AF65-F5344CB8AC3E}">
        <p14:creationId xmlns:p14="http://schemas.microsoft.com/office/powerpoint/2010/main" val="2526612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DD712-C1F4-6679-C0C2-2123C220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513FCF84-39CF-4BBC-4F73-C3608FCD1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8FF20A23-3F3A-7B2D-EC31-FD3FE3A55C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1E7DDEA-BEB7-B43F-DE19-FC969404C2AC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104F2B-1AE4-3958-CEB3-D4EF184DD663}"/>
              </a:ext>
            </a:extLst>
          </p:cNvPr>
          <p:cNvSpPr txBox="1"/>
          <p:nvPr/>
        </p:nvSpPr>
        <p:spPr>
          <a:xfrm>
            <a:off x="244180" y="1743702"/>
            <a:ext cx="46950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QUEREMOS ALCANÇAR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BB1950-49A9-4946-5C56-60802B72D59B}"/>
              </a:ext>
            </a:extLst>
          </p:cNvPr>
          <p:cNvSpPr txBox="1"/>
          <p:nvPr/>
        </p:nvSpPr>
        <p:spPr>
          <a:xfrm>
            <a:off x="6096000" y="1743702"/>
            <a:ext cx="544224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Reduzir o desperdício de medicamentos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Facilitar o acesso a tratamentos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Promover solidariedade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Criar uma rede segura de doação</a:t>
            </a:r>
          </a:p>
        </p:txBody>
      </p:sp>
    </p:spTree>
    <p:extLst>
      <p:ext uri="{BB962C8B-B14F-4D97-AF65-F5344CB8AC3E}">
        <p14:creationId xmlns:p14="http://schemas.microsoft.com/office/powerpoint/2010/main" val="4078703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71D5-A23E-BAEB-2F83-4123F82D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C5E8E9C-4B0C-EC84-DBB0-0ED8D74E6BC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595657"/>
            <a:ext cx="6338305" cy="1666685"/>
          </a:xfrm>
        </p:spPr>
        <p:txBody>
          <a:bodyPr/>
          <a:lstStyle/>
          <a:p>
            <a:pPr algn="ctr"/>
            <a:r>
              <a:rPr lang="pt-BR" sz="6600" dirty="0"/>
              <a:t>COMO FUNCIONA</a:t>
            </a:r>
          </a:p>
        </p:txBody>
      </p:sp>
    </p:spTree>
    <p:extLst>
      <p:ext uri="{BB962C8B-B14F-4D97-AF65-F5344CB8AC3E}">
        <p14:creationId xmlns:p14="http://schemas.microsoft.com/office/powerpoint/2010/main" val="3276515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FCC5-B6B5-7327-7354-AD66FC8A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178A562E-930A-4C88-F304-A074EFDF2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B1A3C58-09D1-C765-A7D7-4B8B5E0158EB}"/>
              </a:ext>
            </a:extLst>
          </p:cNvPr>
          <p:cNvSpPr txBox="1"/>
          <p:nvPr/>
        </p:nvSpPr>
        <p:spPr>
          <a:xfrm>
            <a:off x="484859" y="1348026"/>
            <a:ext cx="561114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600" b="1" dirty="0">
              <a:latin typeface="Arial Nova Light" panose="020B0304020202020204" pitchFamily="34" charset="0"/>
            </a:endParaRPr>
          </a:p>
          <a:p>
            <a:r>
              <a:rPr lang="pt-BR" sz="2600" b="1" dirty="0">
                <a:latin typeface="Arial Nova Light" panose="020B0304020202020204" pitchFamily="34" charset="0"/>
              </a:rPr>
              <a:t>Para doar:</a:t>
            </a:r>
            <a:endParaRPr lang="pt-BR" sz="2600" dirty="0">
              <a:latin typeface="Arial Nova Light" panose="020B0304020202020204" pitchFamily="34" charset="0"/>
            </a:endParaRPr>
          </a:p>
          <a:p>
            <a:r>
              <a:rPr lang="pt-BR" sz="2600" dirty="0">
                <a:latin typeface="Arial Nova Light" panose="020B0304020202020204" pitchFamily="34" charset="0"/>
              </a:rPr>
              <a:t>Cadastrar medicamento</a:t>
            </a:r>
          </a:p>
          <a:p>
            <a:r>
              <a:rPr lang="pt-BR" sz="2600" dirty="0">
                <a:latin typeface="Arial Nova Light" panose="020B0304020202020204" pitchFamily="34" charset="0"/>
              </a:rPr>
              <a:t>Disponível no sistema</a:t>
            </a:r>
          </a:p>
          <a:p>
            <a:r>
              <a:rPr lang="pt-BR" sz="2600" dirty="0">
                <a:latin typeface="Arial Nova Light" panose="020B0304020202020204" pitchFamily="34" charset="0"/>
              </a:rPr>
              <a:t>Triagem por profissional para retirada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r>
              <a:rPr lang="pt-BR" sz="2600" b="1" dirty="0">
                <a:latin typeface="Arial Nova Light" panose="020B0304020202020204" pitchFamily="34" charset="0"/>
              </a:rPr>
              <a:t>Para receber:</a:t>
            </a:r>
            <a:endParaRPr lang="pt-BR" sz="2600" dirty="0">
              <a:latin typeface="Arial Nova Light" panose="020B0304020202020204" pitchFamily="34" charset="0"/>
            </a:endParaRPr>
          </a:p>
          <a:p>
            <a:r>
              <a:rPr lang="pt-BR" sz="2600" dirty="0">
                <a:latin typeface="Arial Nova Light" panose="020B0304020202020204" pitchFamily="34" charset="0"/>
              </a:rPr>
              <a:t>Buscar medicamento</a:t>
            </a:r>
          </a:p>
          <a:p>
            <a:r>
              <a:rPr lang="pt-BR" sz="2600" dirty="0">
                <a:latin typeface="Arial Nova Light" panose="020B0304020202020204" pitchFamily="34" charset="0"/>
              </a:rPr>
              <a:t>Solicitação </a:t>
            </a:r>
          </a:p>
          <a:p>
            <a:r>
              <a:rPr lang="pt-BR" sz="2600" dirty="0">
                <a:latin typeface="Arial Nova Light" panose="020B0304020202020204" pitchFamily="34" charset="0"/>
              </a:rPr>
              <a:t>Retirada em ponto físico autorizado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A6C9EEB-C830-C8E1-E63F-0DBD9C102480}"/>
              </a:ext>
            </a:extLst>
          </p:cNvPr>
          <p:cNvSpPr txBox="1"/>
          <p:nvPr/>
        </p:nvSpPr>
        <p:spPr>
          <a:xfrm>
            <a:off x="-1475" y="556232"/>
            <a:ext cx="6252696" cy="565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38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PASSO A PASSO DO APP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13C2B7D-1F4D-3E1A-1272-2A8332284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99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79A7-2CED-8EC3-701C-F85F0CD0C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1C359E3-6E23-D452-262C-57AD4B0146C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525780" y="2595657"/>
            <a:ext cx="8046720" cy="1666685"/>
          </a:xfrm>
        </p:spPr>
        <p:txBody>
          <a:bodyPr/>
          <a:lstStyle/>
          <a:p>
            <a:pPr algn="ctr"/>
            <a:r>
              <a:rPr lang="pt-BR" sz="5900" dirty="0"/>
              <a:t>FUNCIONALIDADES PRINCIPAIS</a:t>
            </a:r>
          </a:p>
        </p:txBody>
      </p:sp>
    </p:spTree>
    <p:extLst>
      <p:ext uri="{BB962C8B-B14F-4D97-AF65-F5344CB8AC3E}">
        <p14:creationId xmlns:p14="http://schemas.microsoft.com/office/powerpoint/2010/main" val="1450863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D857-7335-C7C5-7B88-6926BE9D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CB16A3B5-2387-A98A-EED9-6E4ADB56A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6B96481F-21C3-5650-E72C-EEC876A65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2CAA542-2F0C-2AF7-CAB3-36D97243910E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1193E2-7963-E8AF-E675-D361789D675B}"/>
              </a:ext>
            </a:extLst>
          </p:cNvPr>
          <p:cNvSpPr txBox="1"/>
          <p:nvPr/>
        </p:nvSpPr>
        <p:spPr>
          <a:xfrm>
            <a:off x="244180" y="1743702"/>
            <a:ext cx="4695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O APP FAZ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0D66958-900E-D65D-BDDF-E59A2629F39F}"/>
              </a:ext>
            </a:extLst>
          </p:cNvPr>
          <p:cNvSpPr txBox="1"/>
          <p:nvPr/>
        </p:nvSpPr>
        <p:spPr>
          <a:xfrm>
            <a:off x="6096000" y="2023672"/>
            <a:ext cx="544224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Cadastro/Login do usuário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Busca de medicamentos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Solicitação e acompanhamento de pedidos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Doação com validação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Localização de pontos de retirada autorizados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Perfil do usuário</a:t>
            </a:r>
          </a:p>
        </p:txBody>
      </p:sp>
    </p:spTree>
    <p:extLst>
      <p:ext uri="{BB962C8B-B14F-4D97-AF65-F5344CB8AC3E}">
        <p14:creationId xmlns:p14="http://schemas.microsoft.com/office/powerpoint/2010/main" val="3144619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B7A9-8C81-650A-6AF6-1EC851CB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52D063E-D7E1-DDE3-6F50-3C2C0D677B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731520" y="2595657"/>
            <a:ext cx="8046720" cy="1666685"/>
          </a:xfrm>
        </p:spPr>
        <p:txBody>
          <a:bodyPr/>
          <a:lstStyle/>
          <a:p>
            <a:pPr algn="ctr"/>
            <a:r>
              <a:rPr lang="pt-BR" sz="5900" dirty="0"/>
              <a:t>DIFERENCIAIS</a:t>
            </a:r>
          </a:p>
        </p:txBody>
      </p:sp>
    </p:spTree>
    <p:extLst>
      <p:ext uri="{BB962C8B-B14F-4D97-AF65-F5344CB8AC3E}">
        <p14:creationId xmlns:p14="http://schemas.microsoft.com/office/powerpoint/2010/main" val="2038456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E5AD0-61EC-6CCD-F2E1-64FD5C04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104FA53F-2D75-CE16-8B2D-1B0971544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9451304-9559-E6F2-93F0-BF0CACABCB1C}"/>
              </a:ext>
            </a:extLst>
          </p:cNvPr>
          <p:cNvSpPr txBox="1"/>
          <p:nvPr/>
        </p:nvSpPr>
        <p:spPr>
          <a:xfrm>
            <a:off x="484859" y="1748135"/>
            <a:ext cx="561114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600" b="1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Integração digital + físico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Triagem por profissional da saúde em locais de retirada autorizados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Controle de validade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Uso com receita médica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Sistema organizado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09284A6-9C18-9C6F-E46F-7B8D8CB60619}"/>
              </a:ext>
            </a:extLst>
          </p:cNvPr>
          <p:cNvSpPr txBox="1"/>
          <p:nvPr/>
        </p:nvSpPr>
        <p:spPr>
          <a:xfrm>
            <a:off x="-1475" y="556232"/>
            <a:ext cx="6252696" cy="1032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38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POR QUE O MEDLINK É ÚNICO?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C4FDF2E-BF3A-08D0-E575-0F5472D85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99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80C2-0741-3DD2-03E0-AC6D86B2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3767F46-9DD0-3FE1-BF89-318E572E21C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731520" y="2595657"/>
            <a:ext cx="8046720" cy="1666685"/>
          </a:xfrm>
        </p:spPr>
        <p:txBody>
          <a:bodyPr/>
          <a:lstStyle/>
          <a:p>
            <a:pPr algn="ctr"/>
            <a:r>
              <a:rPr lang="pt-BR" sz="5900" dirty="0"/>
              <a:t>PÚBLICO-ALVO</a:t>
            </a:r>
          </a:p>
        </p:txBody>
      </p:sp>
    </p:spTree>
    <p:extLst>
      <p:ext uri="{BB962C8B-B14F-4D97-AF65-F5344CB8AC3E}">
        <p14:creationId xmlns:p14="http://schemas.microsoft.com/office/powerpoint/2010/main" val="2217702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1DEF-9E50-6951-55C9-06E917BA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3A75EE7E-51B6-9563-79D3-7C13C27AB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E244046-7007-6C71-463C-1021821F4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4653-D18D-C155-DD73-ADD65AC85171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532D373-ABF9-C526-CCC1-51F002056BB6}"/>
              </a:ext>
            </a:extLst>
          </p:cNvPr>
          <p:cNvSpPr txBox="1"/>
          <p:nvPr/>
        </p:nvSpPr>
        <p:spPr>
          <a:xfrm>
            <a:off x="254447" y="1587103"/>
            <a:ext cx="46950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PARA QUEM É O MEDLINK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CBD686-CA93-6E0F-CEA5-C7BB327535A4}"/>
              </a:ext>
            </a:extLst>
          </p:cNvPr>
          <p:cNvSpPr txBox="1"/>
          <p:nvPr/>
        </p:nvSpPr>
        <p:spPr>
          <a:xfrm>
            <a:off x="6184648" y="1587103"/>
            <a:ext cx="544224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👤 </a:t>
            </a:r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Beneficiários:</a:t>
            </a: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Pessoas com baixa renda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Pacientes crônicos 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👤 </a:t>
            </a:r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Doadores:</a:t>
            </a: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Pessoas com medicamentos sobrando 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👤 </a:t>
            </a:r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Profissionais:</a:t>
            </a: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Farmacêuticos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Técnicos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Instituições de saúde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150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73BF-8A7A-F3D6-F53F-21DE7585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B679CC1-5094-CBD2-DA54-D6292A4D9AF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595657"/>
            <a:ext cx="7200900" cy="1666685"/>
          </a:xfrm>
        </p:spPr>
        <p:txBody>
          <a:bodyPr/>
          <a:lstStyle/>
          <a:p>
            <a:pPr algn="ctr"/>
            <a:r>
              <a:rPr lang="pt-BR" sz="5900" dirty="0"/>
              <a:t>VALIDAÇÃO DA IDEIA</a:t>
            </a:r>
          </a:p>
        </p:txBody>
      </p:sp>
    </p:spTree>
    <p:extLst>
      <p:ext uri="{BB962C8B-B14F-4D97-AF65-F5344CB8AC3E}">
        <p14:creationId xmlns:p14="http://schemas.microsoft.com/office/powerpoint/2010/main" val="2092699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75CD-5F81-45BE-C899-4B4EA33C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617A057E-6035-BE0B-4486-965A00B13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C290B78-96D6-EB58-D1AD-8B5020C388D6}"/>
              </a:ext>
            </a:extLst>
          </p:cNvPr>
          <p:cNvSpPr txBox="1"/>
          <p:nvPr/>
        </p:nvSpPr>
        <p:spPr>
          <a:xfrm>
            <a:off x="640080" y="1408121"/>
            <a:ext cx="561114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b="1" dirty="0">
                <a:latin typeface="Arial Nova Light" panose="020B0304020202020204" pitchFamily="34" charset="0"/>
              </a:rPr>
              <a:t>Resultados: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Alta aceitação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Considerado necessário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Interesse real de uso 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r>
              <a:rPr lang="pt-BR" sz="2600" dirty="0">
                <a:latin typeface="Arial Nova Light" panose="020B0304020202020204" pitchFamily="34" charset="0"/>
              </a:rPr>
              <a:t>✔ Público validado: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Pacientes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Doadores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Profissionais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594348-6082-4AA4-7240-0EC7F78186C8}"/>
              </a:ext>
            </a:extLst>
          </p:cNvPr>
          <p:cNvSpPr txBox="1"/>
          <p:nvPr/>
        </p:nvSpPr>
        <p:spPr>
          <a:xfrm>
            <a:off x="-1475" y="556232"/>
            <a:ext cx="6252696" cy="565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38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 ACEITAÇÃO FOI ALTA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E2D6889-61FB-9522-5E92-A9A1E9C65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81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1858-3556-13E1-AB80-F0FA2739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B763437-83BD-94BC-3D03-E8A28AD1EF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595657"/>
            <a:ext cx="7200900" cy="1666685"/>
          </a:xfrm>
        </p:spPr>
        <p:txBody>
          <a:bodyPr/>
          <a:lstStyle/>
          <a:p>
            <a:pPr algn="ctr"/>
            <a:r>
              <a:rPr lang="pt-BR" sz="5900" dirty="0"/>
              <a:t>ANÁLISE DE MERCADO</a:t>
            </a:r>
          </a:p>
        </p:txBody>
      </p:sp>
    </p:spTree>
    <p:extLst>
      <p:ext uri="{BB962C8B-B14F-4D97-AF65-F5344CB8AC3E}">
        <p14:creationId xmlns:p14="http://schemas.microsoft.com/office/powerpoint/2010/main" val="2083512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BD72-93E1-1A72-F888-D4448DC3E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2DF3B891-A8EC-6962-41C4-EADFDB24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01448717-B6F9-6106-2415-5184BC4267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63C2F84-FA33-6260-FDC0-D47AA6C6C052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57590B-243D-1D2D-1EC3-EB9DBB152A31}"/>
              </a:ext>
            </a:extLst>
          </p:cNvPr>
          <p:cNvSpPr txBox="1"/>
          <p:nvPr/>
        </p:nvSpPr>
        <p:spPr>
          <a:xfrm>
            <a:off x="254447" y="1587103"/>
            <a:ext cx="4695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MERCADO ATUAL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D80B99-E232-7CDA-59DB-34FF8045281A}"/>
              </a:ext>
            </a:extLst>
          </p:cNvPr>
          <p:cNvSpPr txBox="1"/>
          <p:nvPr/>
        </p:nvSpPr>
        <p:spPr>
          <a:xfrm>
            <a:off x="6210675" y="1607180"/>
            <a:ext cx="54422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Soluções atuais: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Farmácias solidárias (limitadas)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Doações informais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Falta de soluções digitais 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Oportunidade: </a:t>
            </a: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Criar uma solução escalável e acessível</a:t>
            </a:r>
          </a:p>
        </p:txBody>
      </p:sp>
    </p:spTree>
    <p:extLst>
      <p:ext uri="{BB962C8B-B14F-4D97-AF65-F5344CB8AC3E}">
        <p14:creationId xmlns:p14="http://schemas.microsoft.com/office/powerpoint/2010/main" val="2426919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C173-2FBC-E556-0BCF-C3BB155E4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E686A1C-4C9C-CB96-CE10-A1D66E679A7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595657"/>
            <a:ext cx="7200900" cy="1666685"/>
          </a:xfrm>
        </p:spPr>
        <p:txBody>
          <a:bodyPr/>
          <a:lstStyle/>
          <a:p>
            <a:pPr algn="ctr"/>
            <a:r>
              <a:rPr lang="pt-BR" sz="5900" dirty="0"/>
              <a:t>SEGURANÇA DO SISTEMA</a:t>
            </a:r>
          </a:p>
        </p:txBody>
      </p:sp>
    </p:spTree>
    <p:extLst>
      <p:ext uri="{BB962C8B-B14F-4D97-AF65-F5344CB8AC3E}">
        <p14:creationId xmlns:p14="http://schemas.microsoft.com/office/powerpoint/2010/main" val="2250227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6FAA-3D00-26F1-FB91-47CFC54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A611EB92-DD5D-83F8-51AB-D70EA299C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7674593-6D9B-5ACE-D693-54CD323F9997}"/>
              </a:ext>
            </a:extLst>
          </p:cNvPr>
          <p:cNvSpPr txBox="1"/>
          <p:nvPr/>
        </p:nvSpPr>
        <p:spPr>
          <a:xfrm>
            <a:off x="484859" y="1580589"/>
            <a:ext cx="561114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Validade do medicamento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Embalagem original obrigatória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Triagem por profissional da saúde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Controle de armazenamento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Uso somente com apresentação de receita médica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Pontos físicos confiáveis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F67B68D-E149-DF86-0BA6-21C1AE3F9630}"/>
              </a:ext>
            </a:extLst>
          </p:cNvPr>
          <p:cNvSpPr txBox="1"/>
          <p:nvPr/>
        </p:nvSpPr>
        <p:spPr>
          <a:xfrm>
            <a:off x="0" y="273871"/>
            <a:ext cx="6252696" cy="1032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38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COMO GARANTIMOS A SEGURANÇA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1E631CB-BF1A-D5C1-CF9F-7C060CEFF4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09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EDCDD-01EE-666C-1CBB-ADE46D91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8BAC673-84F7-1E47-0FD4-0DC68FA29A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595657"/>
            <a:ext cx="7200900" cy="1666685"/>
          </a:xfrm>
        </p:spPr>
        <p:txBody>
          <a:bodyPr/>
          <a:lstStyle/>
          <a:p>
            <a:pPr algn="ctr"/>
            <a:r>
              <a:rPr lang="pt-BR" sz="5900" dirty="0"/>
              <a:t>DESAFIOS DO PROJETO</a:t>
            </a:r>
          </a:p>
        </p:txBody>
      </p:sp>
    </p:spTree>
    <p:extLst>
      <p:ext uri="{BB962C8B-B14F-4D97-AF65-F5344CB8AC3E}">
        <p14:creationId xmlns:p14="http://schemas.microsoft.com/office/powerpoint/2010/main" val="1321350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E3695-94FE-F708-D6F4-423333557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06CA5CC2-7C72-913D-E1D1-DF20122A3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5043D04B-4F38-A4BB-EDF7-7D10AB1EB3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4087D89-B23D-AE76-AB3C-8576023ABBC1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CFF1E-9A78-1A7B-D703-7670A132BB0D}"/>
              </a:ext>
            </a:extLst>
          </p:cNvPr>
          <p:cNvSpPr txBox="1"/>
          <p:nvPr/>
        </p:nvSpPr>
        <p:spPr>
          <a:xfrm>
            <a:off x="193242" y="1731284"/>
            <a:ext cx="5051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PRECISAMOS RESOLVER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7EB982-5391-E417-FF4A-818144396169}"/>
              </a:ext>
            </a:extLst>
          </p:cNvPr>
          <p:cNvSpPr txBox="1"/>
          <p:nvPr/>
        </p:nvSpPr>
        <p:spPr>
          <a:xfrm>
            <a:off x="5783580" y="1443875"/>
            <a:ext cx="586933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Adequação às normas da ANVISA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Estrutura física para armazenamento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Parcerias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Segurança dos medicamentos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Confiabilidade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445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1F92-88CD-59E1-F244-348FF169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C7B1B65-5CC5-AEDE-38DE-094181AFA1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595657"/>
            <a:ext cx="7200900" cy="1666685"/>
          </a:xfrm>
        </p:spPr>
        <p:txBody>
          <a:bodyPr/>
          <a:lstStyle/>
          <a:p>
            <a:pPr algn="ctr"/>
            <a:r>
              <a:rPr lang="pt-BR" sz="5900" dirty="0"/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2452474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312E-35DA-F9A3-367E-6654353B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A0425918-2C2F-EC6D-4357-4ECF06C1B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96FE0-1412-B2C4-DAD5-21FAF3C1E080}"/>
              </a:ext>
            </a:extLst>
          </p:cNvPr>
          <p:cNvSpPr txBox="1"/>
          <p:nvPr/>
        </p:nvSpPr>
        <p:spPr>
          <a:xfrm>
            <a:off x="641555" y="2060649"/>
            <a:ext cx="56111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b="1" dirty="0">
                <a:latin typeface="Arial Nova Light" panose="020B0304020202020204" pitchFamily="34" charset="0"/>
              </a:rPr>
              <a:t>SEMANAS: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1-2: Definição do tema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3-4: Pesquisa e entrevistas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5-6: Definição de requisitos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7-8: Protótipos e Front-</a:t>
            </a:r>
            <a:r>
              <a:rPr lang="pt-BR" sz="2600" dirty="0" err="1">
                <a:latin typeface="Arial Nova Light" panose="020B0304020202020204" pitchFamily="34" charset="0"/>
              </a:rPr>
              <a:t>end</a:t>
            </a: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9-10: Back-</a:t>
            </a:r>
            <a:r>
              <a:rPr lang="pt-BR" sz="2600" dirty="0" err="1">
                <a:latin typeface="Arial Nova Light" panose="020B0304020202020204" pitchFamily="34" charset="0"/>
              </a:rPr>
              <a:t>end</a:t>
            </a: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11: Testes e ajustes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12: Entrega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BD858A9-C487-AF30-A30F-BF248346F32A}"/>
              </a:ext>
            </a:extLst>
          </p:cNvPr>
          <p:cNvSpPr txBox="1"/>
          <p:nvPr/>
        </p:nvSpPr>
        <p:spPr>
          <a:xfrm>
            <a:off x="0" y="440193"/>
            <a:ext cx="6252696" cy="1032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38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PLANEJAMENTO DE DESENVOLVIMENTO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B4FCC69-70F5-FE15-59DA-3D4F9BD4C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62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68B4-391C-F0E5-2888-F77CA6808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83E94B3-9729-B2C8-80B7-152CA28271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847117"/>
            <a:ext cx="6789420" cy="1666685"/>
          </a:xfrm>
        </p:spPr>
        <p:txBody>
          <a:bodyPr/>
          <a:lstStyle/>
          <a:p>
            <a:pPr algn="ctr"/>
            <a:r>
              <a:rPr lang="pt-BR" sz="5900" dirty="0"/>
              <a:t>DIVISÃO DA EQUIPE</a:t>
            </a:r>
          </a:p>
        </p:txBody>
      </p:sp>
    </p:spTree>
    <p:extLst>
      <p:ext uri="{BB962C8B-B14F-4D97-AF65-F5344CB8AC3E}">
        <p14:creationId xmlns:p14="http://schemas.microsoft.com/office/powerpoint/2010/main" val="1244517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8375-4B1E-7F37-1C34-4046307F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5C2F3D42-6BD1-3CF2-7322-93616B2A7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1"/>
            <a:ext cx="12192000" cy="685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F1814C51-D899-DCB1-8AC9-EB5D73270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DE38C03-FB7D-6C54-BFC6-990488E0080D}"/>
              </a:ext>
            </a:extLst>
          </p:cNvPr>
          <p:cNvSpPr txBox="1"/>
          <p:nvPr/>
        </p:nvSpPr>
        <p:spPr>
          <a:xfrm>
            <a:off x="8409482" y="2023672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6144FD-7C58-7E48-C89F-4B00B2A179CE}"/>
              </a:ext>
            </a:extLst>
          </p:cNvPr>
          <p:cNvSpPr txBox="1"/>
          <p:nvPr/>
        </p:nvSpPr>
        <p:spPr>
          <a:xfrm>
            <a:off x="193242" y="1731284"/>
            <a:ext cx="5051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EQUIPE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19CD2EB-EC6A-56CE-BC80-0164DA7287D0}"/>
              </a:ext>
            </a:extLst>
          </p:cNvPr>
          <p:cNvSpPr txBox="1"/>
          <p:nvPr/>
        </p:nvSpPr>
        <p:spPr>
          <a:xfrm>
            <a:off x="6001562" y="1335651"/>
            <a:ext cx="586933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Renata</a:t>
            </a: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Questionários, entrevistas e validação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Luana</a:t>
            </a: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Slides, protótipos e front-</a:t>
            </a:r>
            <a:r>
              <a:rPr lang="pt-BR" sz="2600" dirty="0" err="1">
                <a:solidFill>
                  <a:schemeClr val="bg1"/>
                </a:solidFill>
                <a:latin typeface="Arial Nova Light" panose="020B0304020202020204" pitchFamily="34" charset="0"/>
              </a:rPr>
              <a:t>end</a:t>
            </a: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 </a:t>
            </a:r>
          </a:p>
          <a:p>
            <a:r>
              <a:rPr lang="pt-BR" sz="2600" b="1" dirty="0">
                <a:solidFill>
                  <a:schemeClr val="bg1"/>
                </a:solidFill>
                <a:latin typeface="Arial Nova Light" panose="020B0304020202020204" pitchFamily="34" charset="0"/>
              </a:rPr>
              <a:t>Laura</a:t>
            </a:r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Back-</a:t>
            </a:r>
            <a:r>
              <a:rPr lang="pt-BR" sz="2600" dirty="0" err="1">
                <a:solidFill>
                  <a:schemeClr val="bg1"/>
                </a:solidFill>
                <a:latin typeface="Arial Nova Light" panose="020B0304020202020204" pitchFamily="34" charset="0"/>
              </a:rPr>
              <a:t>end</a:t>
            </a:r>
            <a:r>
              <a:rPr lang="pt-BR" sz="2600" dirty="0">
                <a:solidFill>
                  <a:schemeClr val="bg1"/>
                </a:solidFill>
                <a:latin typeface="Arial Nova Light" panose="020B0304020202020204" pitchFamily="34" charset="0"/>
              </a:rPr>
              <a:t>, revisão de código e funcionamento</a:t>
            </a:r>
          </a:p>
          <a:p>
            <a:endParaRPr lang="pt-BR" sz="2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75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8EF0-2018-3F32-136E-12E8CE12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0486E51-676B-CC5D-22A6-AF3D388EFD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2595657"/>
            <a:ext cx="6789420" cy="1666685"/>
          </a:xfrm>
        </p:spPr>
        <p:txBody>
          <a:bodyPr/>
          <a:lstStyle/>
          <a:p>
            <a:pPr algn="ctr"/>
            <a:r>
              <a:rPr lang="pt-BR" sz="5900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998836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7BE2-157B-D330-33C8-58E71106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525BD7B9-130A-1E18-B31A-CF293FD08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7F4AA0A-C495-836A-F1F0-3424679CDA5C}"/>
              </a:ext>
            </a:extLst>
          </p:cNvPr>
          <p:cNvSpPr txBox="1"/>
          <p:nvPr/>
        </p:nvSpPr>
        <p:spPr>
          <a:xfrm>
            <a:off x="484859" y="1445412"/>
            <a:ext cx="561114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b="1" dirty="0">
                <a:latin typeface="Arial Nova Light" panose="020B0304020202020204" pitchFamily="34" charset="0"/>
              </a:rPr>
              <a:t>O </a:t>
            </a:r>
            <a:r>
              <a:rPr lang="pt-BR" sz="2600" b="1" dirty="0" err="1">
                <a:latin typeface="Arial Nova Light" panose="020B0304020202020204" pitchFamily="34" charset="0"/>
              </a:rPr>
              <a:t>MedLink</a:t>
            </a:r>
            <a:r>
              <a:rPr lang="pt-BR" sz="2600" b="1" dirty="0">
                <a:latin typeface="Arial Nova Light" panose="020B0304020202020204" pitchFamily="34" charset="0"/>
              </a:rPr>
              <a:t>:</a:t>
            </a:r>
          </a:p>
          <a:p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Combate o desperdício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Amplia o acesso à saúde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Usa tecnologia com impacto social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>
                <a:latin typeface="Arial Nova Light" panose="020B0304020202020204" pitchFamily="34" charset="0"/>
              </a:rPr>
              <a:t>Validado com usuários reais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>
              <a:latin typeface="Arial Nova Light" panose="020B0304020202020204" pitchFamily="34" charset="0"/>
            </a:endParaRPr>
          </a:p>
          <a:p>
            <a:pPr algn="just"/>
            <a:r>
              <a:rPr lang="pt-BR" sz="2600" b="1" dirty="0">
                <a:latin typeface="Arial Nova Light" panose="020B0304020202020204" pitchFamily="34" charset="0"/>
              </a:rPr>
              <a:t>O app não substitui o sistema de saúde – é um apoio emergencial e comunitário.</a:t>
            </a:r>
            <a:endParaRPr lang="pt-BR" sz="2600" dirty="0">
              <a:latin typeface="Arial Nova Light" panose="020B0304020202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5431AE8-9708-BBBD-4375-F8E2FE93933A}"/>
              </a:ext>
            </a:extLst>
          </p:cNvPr>
          <p:cNvSpPr txBox="1"/>
          <p:nvPr/>
        </p:nvSpPr>
        <p:spPr>
          <a:xfrm>
            <a:off x="0" y="440193"/>
            <a:ext cx="6252696" cy="565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38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CONCLUSÃO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B2B9453-28E0-E157-BF2F-68348667A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01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5883-0A81-9D39-A4F5-10585707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8B456A99-36B7-E199-86BC-4B32832F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F2566EB6-92C0-D881-C176-9EAC3DE102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418" t="-46144" b="-40859"/>
          <a:stretch>
            <a:fillRect/>
          </a:stretch>
        </p:blipFill>
        <p:spPr>
          <a:xfrm>
            <a:off x="8345397" y="4823890"/>
            <a:ext cx="3279336" cy="194542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7F1DD89-529B-4349-A0EA-604876C11991}"/>
              </a:ext>
            </a:extLst>
          </p:cNvPr>
          <p:cNvSpPr txBox="1"/>
          <p:nvPr/>
        </p:nvSpPr>
        <p:spPr>
          <a:xfrm>
            <a:off x="2971093" y="1536762"/>
            <a:ext cx="6249813" cy="1012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pt-BR" sz="7200" dirty="0">
                <a:ln>
                  <a:solidFill>
                    <a:schemeClr val="bg1"/>
                  </a:solidFill>
                </a:ln>
                <a:noFill/>
              </a:rPr>
              <a:t>OBRIGADA!</a:t>
            </a:r>
          </a:p>
        </p:txBody>
      </p:sp>
    </p:spTree>
    <p:extLst>
      <p:ext uri="{BB962C8B-B14F-4D97-AF65-F5344CB8AC3E}">
        <p14:creationId xmlns:p14="http://schemas.microsoft.com/office/powerpoint/2010/main" val="3328310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329F00-2A8C-46E7-9764-248AFFF1202A}">
  <ds:schemaRefs>
    <ds:schemaRef ds:uri="http://purl.org/dc/elements/1.1/"/>
    <ds:schemaRef ds:uri="http://schemas.openxmlformats.org/package/2006/metadata/core-properties"/>
    <ds:schemaRef ds:uri="http://purl.org/dc/terms/"/>
    <ds:schemaRef ds:uri="5fb5f026-dc7b-485f-82fe-577aafb4abaa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9970e0e6-68bd-454a-b013-2dc3f312d27d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1139</TotalTime>
  <Words>548</Words>
  <Application>Microsoft Office PowerPoint</Application>
  <PresentationFormat>Widescreen</PresentationFormat>
  <Paragraphs>184</Paragraphs>
  <Slides>34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3" baseType="lpstr">
      <vt:lpstr>Aptos Black</vt:lpstr>
      <vt:lpstr>Arial</vt:lpstr>
      <vt:lpstr>Arial Nova Light</vt:lpstr>
      <vt:lpstr>Calibri</vt:lpstr>
      <vt:lpstr>Roboto</vt:lpstr>
      <vt:lpstr>Roboto Black</vt:lpstr>
      <vt:lpstr>Roboto Light</vt:lpstr>
      <vt:lpstr>Segoe UI Historic</vt:lpstr>
      <vt:lpstr>tema unisinos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Krause de Verney</dc:creator>
  <cp:lastModifiedBy>Luuh Hedlund De Bona</cp:lastModifiedBy>
  <cp:revision>18</cp:revision>
  <dcterms:created xsi:type="dcterms:W3CDTF">2012-07-30T23:50:35Z</dcterms:created>
  <dcterms:modified xsi:type="dcterms:W3CDTF">2026-04-07T22:38:38Z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